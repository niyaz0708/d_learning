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548640"/>
            <a:ext cx="3017520" cy="30175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377440" cy="2377440"/>
          </a:xfrm>
          <a:prstGeom prst="ellipse">
            <a:avLst/>
          </a:prstGeom>
          <a:solidFill>
            <a:srgbClr val="37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658368"/>
            <a:ext cx="1737360" cy="384048"/>
          </a:xfrm>
          <a:prstGeom prst="roundRect">
            <a:avLst/>
          </a:prstGeom>
          <a:solidFill>
            <a:srgbClr val="262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7AFFF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65836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5F7FF"/>
                </a:solidFill>
                <a:latin typeface="Aptos Display"/>
              </a:defRPr>
            </a:pPr>
            <a:r>
              <a:t>D LEARNING</a:t>
            </a:r>
          </a:p>
          <a:p>
            <a:pPr>
              <a:defRPr sz="2000">
                <a:solidFill>
                  <a:srgbClr val="37AFFF"/>
                </a:solidFill>
                <a:latin typeface="Aptos"/>
              </a:defRPr>
            </a:pPr>
            <a:r>
              <a:t>AI-Powered Interactive Learning &amp; Test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46120"/>
            <a:ext cx="6126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5F7FF"/>
                </a:solidFill>
                <a:latin typeface="Aptos Display"/>
              </a:defRPr>
            </a:pPr>
            <a:r>
              <a:t>Learn → Practice → Test → Revise</a:t>
            </a:r>
          </a:p>
          <a:p>
            <a:pPr>
              <a:defRPr sz="1300">
                <a:solidFill>
                  <a:srgbClr val="A9B2CC"/>
                </a:solidFill>
                <a:latin typeface="Aptos"/>
              </a:defRPr>
            </a:pPr>
            <a:r>
              <a:t>A focused platform for Computer Science learning and exam preparation.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234440"/>
            <a:ext cx="3886200" cy="4434840"/>
          </a:xfrm>
          <a:prstGeom prst="roundRect">
            <a:avLst/>
          </a:prstGeom>
          <a:solidFill>
            <a:srgbClr val="181F37"/>
          </a:solidFill>
          <a:ln>
            <a:solidFill>
              <a:srgbClr val="3641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01000" y="1828800"/>
            <a:ext cx="2788920" cy="1965960"/>
          </a:xfrm>
          <a:prstGeom prst="roundRect">
            <a:avLst/>
          </a:prstGeom>
          <a:solidFill>
            <a:srgbClr val="0B0F1E"/>
          </a:solidFill>
          <a:ln w="25400">
            <a:solidFill>
              <a:srgbClr val="7E5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366760" y="2176272"/>
            <a:ext cx="2057400" cy="164592"/>
          </a:xfrm>
          <a:prstGeom prst="round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6760" y="2578608"/>
            <a:ext cx="1600200" cy="164592"/>
          </a:xfrm>
          <a:prstGeom prst="roundRect">
            <a:avLst/>
          </a:prstGeom>
          <a:solidFill>
            <a:srgbClr val="37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66760" y="2944368"/>
            <a:ext cx="1828800" cy="164592"/>
          </a:xfrm>
          <a:prstGeom prst="roundRect">
            <a:avLst/>
          </a:prstGeom>
          <a:solidFill>
            <a:srgbClr val="47D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31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9B2CC"/>
                </a:solidFill>
                <a:latin typeface="Aptos"/>
              </a:defRPr>
            </a:pPr>
            <a:r>
              <a:t>Developed and Managed by MD Niyaz Alam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9B2CC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548640"/>
            <a:ext cx="3017520" cy="30175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377440" cy="2377440"/>
          </a:xfrm>
          <a:prstGeom prst="ellipse">
            <a:avLst/>
          </a:prstGeom>
          <a:solidFill>
            <a:srgbClr val="37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7AFFF"/>
                </a:solidFill>
                <a:latin typeface="Aptos"/>
              </a:defRPr>
            </a:pPr>
            <a:r>
              <a:t>01 •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What if learning could test itself?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2CC"/>
                </a:solidFill>
                <a:latin typeface="Aptos"/>
              </a:defRPr>
            </a:pPr>
            <a:r>
              <a:t>D Learning connects study, practice and assessment in one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383280" cy="214884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54864" cy="214884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E57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31720"/>
            <a:ext cx="2468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The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07208"/>
            <a:ext cx="2880360" cy="1344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A digital learning platform for Computer Science students.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383280" cy="214884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48840"/>
            <a:ext cx="54864" cy="2148840"/>
          </a:xfrm>
          <a:prstGeom prst="rect">
            <a:avLst/>
          </a:prstGeom>
          <a:solidFill>
            <a:srgbClr val="37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33172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7A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331720"/>
            <a:ext cx="2468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The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807208"/>
            <a:ext cx="2880360" cy="1344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Make revision interactive, structured and exam-ready.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148840"/>
            <a:ext cx="3383280" cy="214884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148840"/>
            <a:ext cx="54864" cy="2148840"/>
          </a:xfrm>
          <a:prstGeom prst="rect">
            <a:avLst/>
          </a:prstGeom>
          <a:solidFill>
            <a:srgbClr val="47D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33172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D69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331720"/>
            <a:ext cx="2468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The Creator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807208"/>
            <a:ext cx="2880360" cy="1344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Developed &amp; managed by MD Niyaz Alam.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31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9B2CC"/>
                </a:solidFill>
                <a:latin typeface="Aptos"/>
              </a:defRPr>
            </a:pPr>
            <a:r>
              <a:t>Developed and Managed by MD Niyaz Alam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9B2CC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548640"/>
            <a:ext cx="3017520" cy="30175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377440" cy="2377440"/>
          </a:xfrm>
          <a:prstGeom prst="ellipse">
            <a:avLst/>
          </a:prstGeom>
          <a:solidFill>
            <a:srgbClr val="37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7AFFF"/>
                </a:solidFill>
                <a:latin typeface="Aptos"/>
              </a:defRPr>
            </a:pPr>
            <a:r>
              <a:t>02 •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The learning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2CC"/>
                </a:solidFill>
                <a:latin typeface="Aptos"/>
              </a:defRPr>
            </a:pPr>
            <a:r>
              <a:t>Students often have content — but not a simple practice loop.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383280" cy="233172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54864" cy="233172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B14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40280"/>
            <a:ext cx="2468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Too Much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15768"/>
            <a:ext cx="2880360" cy="1527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Revision can feel scattered across notes and resources.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383280" cy="233172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057400"/>
            <a:ext cx="54864" cy="23317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24028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E57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240280"/>
            <a:ext cx="2468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Less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15768"/>
            <a:ext cx="2880360" cy="1527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Reading alone does not show how well a concept is understood.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057400"/>
            <a:ext cx="3383280" cy="233172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057400"/>
            <a:ext cx="54864" cy="2331720"/>
          </a:xfrm>
          <a:prstGeom prst="rect">
            <a:avLst/>
          </a:prstGeom>
          <a:solidFill>
            <a:srgbClr val="37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24028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7A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240280"/>
            <a:ext cx="2468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Exam Pressure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715768"/>
            <a:ext cx="2880360" cy="1527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Students need quick revision and timed practice.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31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9B2CC"/>
                </a:solidFill>
                <a:latin typeface="Aptos"/>
              </a:defRPr>
            </a:pPr>
            <a:r>
              <a:t>Developed and Managed by MD Niyaz Alam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9B2CC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548640"/>
            <a:ext cx="3017520" cy="30175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377440" cy="2377440"/>
          </a:xfrm>
          <a:prstGeom prst="ellipse">
            <a:avLst/>
          </a:prstGeom>
          <a:solidFill>
            <a:srgbClr val="37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7AFFF"/>
                </a:solidFill>
                <a:latin typeface="Aptos"/>
              </a:defRPr>
            </a:pPr>
            <a:r>
              <a:t>03 •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One platform. One learning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2CC"/>
                </a:solidFill>
                <a:latin typeface="Aptos"/>
              </a:defRPr>
            </a:pPr>
            <a:r>
              <a:t>D Learning turns preparation into an interactive 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2240280" cy="182880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331720"/>
            <a:ext cx="54864" cy="182880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E57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14600"/>
            <a:ext cx="1325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90087"/>
            <a:ext cx="1737360" cy="1024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Concepts &amp; revision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331720"/>
            <a:ext cx="2240280" cy="182880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2331720"/>
            <a:ext cx="54864" cy="1828800"/>
          </a:xfrm>
          <a:prstGeom prst="rect">
            <a:avLst/>
          </a:prstGeom>
          <a:solidFill>
            <a:srgbClr val="37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514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7A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514600"/>
            <a:ext cx="1325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990087"/>
            <a:ext cx="1737360" cy="1024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Interactive questions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331720"/>
            <a:ext cx="2240280" cy="182880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6520" y="2331720"/>
            <a:ext cx="54864" cy="1828800"/>
          </a:xfrm>
          <a:prstGeom prst="rect">
            <a:avLst/>
          </a:prstGeom>
          <a:solidFill>
            <a:srgbClr val="47D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514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D69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514600"/>
            <a:ext cx="1325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990087"/>
            <a:ext cx="1737360" cy="1024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Timed assessment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72600" y="2331720"/>
            <a:ext cx="2240280" cy="182880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72600" y="2331720"/>
            <a:ext cx="54864" cy="182880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2514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B14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514600"/>
            <a:ext cx="1325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REVISE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2990087"/>
            <a:ext cx="1737360" cy="10241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Review &amp; improve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31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9B2CC"/>
                </a:solidFill>
                <a:latin typeface="Aptos"/>
              </a:defRPr>
            </a:pPr>
            <a:r>
              <a:t>Developed and Managed by MD Niyaz Alam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9B2CC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548640"/>
            <a:ext cx="3017520" cy="30175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377440" cy="2377440"/>
          </a:xfrm>
          <a:prstGeom prst="ellipse">
            <a:avLst/>
          </a:prstGeom>
          <a:solidFill>
            <a:srgbClr val="37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7AFFF"/>
                </a:solidFill>
                <a:latin typeface="Aptos"/>
              </a:defRPr>
            </a:pPr>
            <a:r>
              <a:t>03 • USP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What makes D Learning different?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2CC"/>
                </a:solidFill>
                <a:latin typeface="Aptos"/>
              </a:defRPr>
            </a:pPr>
            <a:r>
              <a:t>The focus is the learning + assessment experience.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5212080" cy="219456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54864" cy="219456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E57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331720"/>
            <a:ext cx="4297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AI-Assisted Test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07208"/>
            <a:ext cx="4709160" cy="138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Gemini API can generate test content dynamically.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48840"/>
            <a:ext cx="5212080" cy="219456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148840"/>
            <a:ext cx="54864" cy="2194560"/>
          </a:xfrm>
          <a:prstGeom prst="rect">
            <a:avLst/>
          </a:prstGeom>
          <a:solidFill>
            <a:srgbClr val="37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7A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331720"/>
            <a:ext cx="4297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Learning + Assessment Together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59" y="2807208"/>
            <a:ext cx="4709160" cy="138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Move from learning to practice and timed testing in one platform.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31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9B2CC"/>
                </a:solidFill>
                <a:latin typeface="Aptos"/>
              </a:defRPr>
            </a:pPr>
            <a:r>
              <a:t>Developed and Managed by MD Niyaz Alam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9B2CC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548640"/>
            <a:ext cx="3017520" cy="30175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377440" cy="2377440"/>
          </a:xfrm>
          <a:prstGeom prst="ellipse">
            <a:avLst/>
          </a:prstGeom>
          <a:solidFill>
            <a:srgbClr val="37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7AFFF"/>
                </a:solidFill>
                <a:latin typeface="Aptos"/>
              </a:defRPr>
            </a:pPr>
            <a:r>
              <a:t>04 • 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Built around the 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2CC"/>
                </a:solidFill>
                <a:latin typeface="Aptos"/>
              </a:defRPr>
            </a:pPr>
            <a:r>
              <a:t>Four features form the core experience.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5074920" cy="150876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54864" cy="150876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E57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40280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Interactive Quizzes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15768"/>
            <a:ext cx="4572000" cy="704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Practice concepts through questions.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057400"/>
            <a:ext cx="5074920" cy="150876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057400"/>
            <a:ext cx="54864" cy="1508760"/>
          </a:xfrm>
          <a:prstGeom prst="rect">
            <a:avLst/>
          </a:prstGeom>
          <a:solidFill>
            <a:srgbClr val="37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24028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7A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240280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Timed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15768"/>
            <a:ext cx="4572000" cy="704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Countdown-based exam practice.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886200"/>
            <a:ext cx="5074920" cy="150876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886200"/>
            <a:ext cx="54864" cy="1508760"/>
          </a:xfrm>
          <a:prstGeom prst="rect">
            <a:avLst/>
          </a:prstGeom>
          <a:solidFill>
            <a:srgbClr val="47D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D69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69080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Exam Revision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544568"/>
            <a:ext cx="4572000" cy="704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Quick learning notes for preparation.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886200"/>
            <a:ext cx="5074920" cy="150876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886200"/>
            <a:ext cx="54864" cy="150876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06908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B14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069080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AI Test Generation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544568"/>
            <a:ext cx="4572000" cy="704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Dynamic questions through Gemini.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31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9B2CC"/>
                </a:solidFill>
                <a:latin typeface="Aptos"/>
              </a:defRPr>
            </a:pPr>
            <a:r>
              <a:t>Developed and Managed by MD Niyaz Alam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9B2CC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548640"/>
            <a:ext cx="3017520" cy="30175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377440" cy="2377440"/>
          </a:xfrm>
          <a:prstGeom prst="ellipse">
            <a:avLst/>
          </a:prstGeom>
          <a:solidFill>
            <a:srgbClr val="37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7AFFF"/>
                </a:solidFill>
                <a:latin typeface="Aptos"/>
              </a:defRPr>
            </a:pPr>
            <a:r>
              <a:t>04 •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How a student uses 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2CC"/>
                </a:solidFill>
                <a:latin typeface="Aptos"/>
              </a:defRPr>
            </a:pPr>
            <a:r>
              <a:t>A simple journey from topic selection to assessment.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2057400" cy="210312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31720"/>
            <a:ext cx="54864" cy="21031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E57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1143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Choose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90087"/>
            <a:ext cx="1554480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Select a topic.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2331720"/>
            <a:ext cx="2057400" cy="210312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07208" y="2331720"/>
            <a:ext cx="54864" cy="2103120"/>
          </a:xfrm>
          <a:prstGeom prst="rect">
            <a:avLst/>
          </a:prstGeom>
          <a:solidFill>
            <a:srgbClr val="37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2514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7A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514600"/>
            <a:ext cx="1143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Learn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990087"/>
            <a:ext cx="1554480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Review material.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11496" y="2331720"/>
            <a:ext cx="2057400" cy="210312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11496" y="2331720"/>
            <a:ext cx="54864" cy="2103120"/>
          </a:xfrm>
          <a:prstGeom prst="rect">
            <a:avLst/>
          </a:prstGeom>
          <a:solidFill>
            <a:srgbClr val="47D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0096" y="2514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D69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7296" y="2514600"/>
            <a:ext cx="1143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Generate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5816" y="2990087"/>
            <a:ext cx="1554480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Create an AI test.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15784" y="2331720"/>
            <a:ext cx="2057400" cy="210312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15784" y="2331720"/>
            <a:ext cx="54864" cy="210312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44384" y="2514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B14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1584" y="2514600"/>
            <a:ext cx="1143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Attempt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0104" y="2990087"/>
            <a:ext cx="1554480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Solve under time.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0072" y="2331720"/>
            <a:ext cx="2057400" cy="210312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20072" y="2331720"/>
            <a:ext cx="54864" cy="21031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48672" y="25146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E57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5872" y="2514600"/>
            <a:ext cx="1143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Review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94392" y="2990087"/>
            <a:ext cx="1554480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Use results for revision.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31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9B2CC"/>
                </a:solidFill>
                <a:latin typeface="Aptos"/>
              </a:defRPr>
            </a:pPr>
            <a:r>
              <a:t>Developed and Managed by MD Niyaz Alam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9B2CC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548640"/>
            <a:ext cx="3017520" cy="30175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377440" cy="2377440"/>
          </a:xfrm>
          <a:prstGeom prst="ellipse">
            <a:avLst/>
          </a:prstGeom>
          <a:solidFill>
            <a:srgbClr val="37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7AFFF"/>
                </a:solidFill>
                <a:latin typeface="Aptos"/>
              </a:defRPr>
            </a:pPr>
            <a:r>
              <a:t>05 •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2CC"/>
                </a:solidFill>
                <a:latin typeface="Aptos"/>
              </a:defRPr>
            </a:pPr>
            <a:r>
              <a:t>A web stack with AI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3383280" cy="150876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057400"/>
            <a:ext cx="54864" cy="150876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E57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40280"/>
            <a:ext cx="2468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15768"/>
            <a:ext cx="2880360" cy="704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Backend language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383280" cy="150876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057400"/>
            <a:ext cx="54864" cy="1508760"/>
          </a:xfrm>
          <a:prstGeom prst="rect">
            <a:avLst/>
          </a:prstGeom>
          <a:solidFill>
            <a:srgbClr val="37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24028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7A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240280"/>
            <a:ext cx="2468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Django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15768"/>
            <a:ext cx="2880360" cy="704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Web framework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2057400"/>
            <a:ext cx="3383280" cy="150876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2057400"/>
            <a:ext cx="54864" cy="1508760"/>
          </a:xfrm>
          <a:prstGeom prst="rect">
            <a:avLst/>
          </a:prstGeom>
          <a:solidFill>
            <a:srgbClr val="47D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24028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D69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240280"/>
            <a:ext cx="2468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HTML / CSS / 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715768"/>
            <a:ext cx="2880360" cy="704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931920"/>
            <a:ext cx="3383280" cy="150876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3931920"/>
            <a:ext cx="54864" cy="150876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148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B14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114800"/>
            <a:ext cx="2468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Bootstrap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590288"/>
            <a:ext cx="2880360" cy="704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Responsive UI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931920"/>
            <a:ext cx="3383280" cy="150876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3931920"/>
            <a:ext cx="54864" cy="150876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41148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E57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4114800"/>
            <a:ext cx="2468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Gemini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590288"/>
            <a:ext cx="2880360" cy="704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AI test generation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31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10528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9B2CC"/>
                </a:solidFill>
                <a:latin typeface="Aptos"/>
              </a:defRPr>
            </a:pPr>
            <a:r>
              <a:t>Developed and Managed by MD Niyaz Alam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9B2CC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548640"/>
            <a:ext cx="3017520" cy="30175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377440" cy="2377440"/>
          </a:xfrm>
          <a:prstGeom prst="ellipse">
            <a:avLst/>
          </a:prstGeom>
          <a:solidFill>
            <a:srgbClr val="37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7AFFF"/>
                </a:solidFill>
                <a:latin typeface="Aptos"/>
              </a:defRPr>
            </a:pPr>
            <a:r>
              <a:t>05 •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How it was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2CC"/>
                </a:solidFill>
                <a:latin typeface="Aptos"/>
              </a:defRPr>
            </a:pPr>
            <a:r>
              <a:t>A simple development cycle keeps the project focused.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2651760" cy="210312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54864" cy="210312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E57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61487"/>
            <a:ext cx="2148839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Define learning 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103120"/>
            <a:ext cx="2651760" cy="210312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80" y="2103120"/>
            <a:ext cx="54864" cy="2103120"/>
          </a:xfrm>
          <a:prstGeom prst="rect">
            <a:avLst/>
          </a:prstGeom>
          <a:solidFill>
            <a:srgbClr val="37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2860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7A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286000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2761487"/>
            <a:ext cx="2148839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Develop Django UI &amp; logic.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2103120"/>
            <a:ext cx="2651760" cy="210312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37960" y="2103120"/>
            <a:ext cx="54864" cy="2103120"/>
          </a:xfrm>
          <a:prstGeom prst="rect">
            <a:avLst/>
          </a:prstGeom>
          <a:solidFill>
            <a:srgbClr val="47D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2860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D69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286000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INTEGRATE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761487"/>
            <a:ext cx="2148839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Connect Gemini API.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2103120"/>
            <a:ext cx="2651760" cy="210312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64040" y="2103120"/>
            <a:ext cx="54864" cy="210312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22860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B14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2286000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2761487"/>
            <a:ext cx="2148839" cy="1298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Run, debug and refine.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31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9B2CC"/>
                </a:solidFill>
                <a:latin typeface="Aptos"/>
              </a:defRPr>
            </a:pPr>
            <a:r>
              <a:t>Developed and Managed by MD Niyaz Alam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9B2CC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548640"/>
            <a:ext cx="3017520" cy="30175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377440" cy="2377440"/>
          </a:xfrm>
          <a:prstGeom prst="ellipse">
            <a:avLst/>
          </a:prstGeom>
          <a:solidFill>
            <a:srgbClr val="37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7AFFF"/>
                </a:solidFill>
                <a:latin typeface="Aptos"/>
              </a:defRPr>
            </a:pPr>
            <a:r>
              <a:t>06 • IMPACT &amp;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Built for learning today. Ready to grow.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9B2CC"/>
                </a:solidFill>
                <a:latin typeface="Aptos"/>
              </a:defRPr>
            </a:pPr>
            <a:r>
              <a:t>Potential next steps for the platform.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3383280" cy="219456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54864" cy="2194560"/>
          </a:xfrm>
          <a:prstGeom prst="rect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E57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2468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Learning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61487"/>
            <a:ext cx="2880360" cy="138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Track performance and weak topics.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03120"/>
            <a:ext cx="3383280" cy="219456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03120"/>
            <a:ext cx="54864" cy="2194560"/>
          </a:xfrm>
          <a:prstGeom prst="rect">
            <a:avLst/>
          </a:prstGeom>
          <a:solidFill>
            <a:srgbClr val="37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2860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7A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286000"/>
            <a:ext cx="2468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Adaptive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61487"/>
            <a:ext cx="2880360" cy="138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Personalize practice from progress.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103120"/>
            <a:ext cx="3383280" cy="2194560"/>
          </a:xfrm>
          <a:prstGeom prst="roundRect">
            <a:avLst/>
          </a:prstGeom>
          <a:solidFill>
            <a:srgbClr val="181F37"/>
          </a:solidFill>
          <a:ln>
            <a:solidFill>
              <a:srgbClr val="2C3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103120"/>
            <a:ext cx="54864" cy="2194560"/>
          </a:xfrm>
          <a:prstGeom prst="rect">
            <a:avLst/>
          </a:prstGeom>
          <a:solidFill>
            <a:srgbClr val="47D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47D69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286000"/>
            <a:ext cx="24688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F"/>
                </a:solidFill>
                <a:latin typeface="Aptos Display"/>
              </a:defRPr>
            </a:pPr>
            <a:r>
              <a:t>More Subjects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761487"/>
            <a:ext cx="2880360" cy="138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9B2CC"/>
                </a:solidFill>
                <a:latin typeface="Aptos"/>
              </a:defRPr>
            </a:pPr>
            <a:r>
              <a:t>Expand beyond Computer Science.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31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9B2CC"/>
                </a:solidFill>
                <a:latin typeface="Aptos"/>
              </a:defRPr>
            </a:pPr>
            <a:r>
              <a:t>Developed and Managed by MD Niyaz Alam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9B2CC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548640"/>
            <a:ext cx="3017520" cy="3017520"/>
          </a:xfrm>
          <a:prstGeom prst="ellipse">
            <a:avLst/>
          </a:prstGeom>
          <a:solidFill>
            <a:srgbClr val="7E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5303520"/>
            <a:ext cx="2377440" cy="2377440"/>
          </a:xfrm>
          <a:prstGeom prst="ellipse">
            <a:avLst/>
          </a:prstGeom>
          <a:solidFill>
            <a:srgbClr val="37A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5F7FF"/>
                </a:solidFill>
                <a:latin typeface="Aptos Display"/>
              </a:defRPr>
            </a:pPr>
            <a:r>
              <a:t>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423160"/>
            <a:ext cx="9235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7AFFF"/>
                </a:solidFill>
                <a:latin typeface="Aptos"/>
              </a:defRPr>
            </a:pPr>
            <a:r>
              <a:t>Learn smarter. Practice better. Prepare with confidence.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794760"/>
            <a:ext cx="8138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5F7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572000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A9B2CC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83112" cy="10972"/>
          </a:xfrm>
          <a:prstGeom prst="rect">
            <a:avLst/>
          </a:prstGeom>
          <a:solidFill>
            <a:srgbClr val="313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9875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A9B2CC"/>
                </a:solidFill>
                <a:latin typeface="Aptos"/>
              </a:defRPr>
            </a:pPr>
            <a:r>
              <a:t>Developed and Managed by MD Niyaz Alam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9B2CC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